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56" r:id="rId4"/>
    <p:sldId id="257" r:id="rId5"/>
    <p:sldId id="258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4E746-FC41-439B-B6D8-19F5CA1F02AC}" v="124" dt="2025-12-14T14:02:29.799"/>
    <p1510:client id="{12CE56AF-2C9F-46B8-8EDE-ED674E13279E}" v="449" dt="2025-12-14T00:06:44.800"/>
    <p1510:client id="{4B89274D-CB87-49E5-8E3A-0E9EB898A644}" v="405" dt="2025-12-14T00:17:16.886"/>
    <p1510:client id="{E69F4E17-F6FF-47D2-8A00-5F8692FA836B}" v="1181" dt="2025-12-13T23:49:42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4AE95-F10E-575D-4A3C-F06E328B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/>
              <a:t>PyStart - Мобильное приложение для изучения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389E1-7886-F669-0B2E-C355FCC96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/>
              <a:t>Выполнил Иванов Вячеслав </a:t>
            </a:r>
            <a:br>
              <a:rPr lang="en-US" sz="2400"/>
            </a:br>
            <a:r>
              <a:rPr lang="en-US" sz="2400"/>
              <a:t>Группы 405ИС-22</a:t>
            </a: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 descr="Введение в язык Котлин — Открытый Политех">
            <a:extLst>
              <a:ext uri="{FF2B5EF4-FFF2-40B4-BE49-F238E27FC236}">
                <a16:creationId xmlns:a16="http://schemas.microsoft.com/office/drawing/2014/main" id="{97DF8D04-7E9D-2C5F-E33A-E02200FC4D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54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04007-1C56-57F0-B6C2-5A1C229C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Проблематика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3A03C990-F8CA-60A4-44AE-9E51A6E7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500" b="1" err="1"/>
              <a:t>Проблема</a:t>
            </a:r>
            <a:r>
              <a:rPr lang="en-US" sz="1500" b="1"/>
              <a:t>:</a:t>
            </a:r>
          </a:p>
          <a:p>
            <a:pPr>
              <a:buFont typeface="Arial"/>
              <a:buChar char="•"/>
            </a:pPr>
            <a:r>
              <a:rPr lang="en-US" sz="1500"/>
              <a:t>Python — </a:t>
            </a:r>
            <a:r>
              <a:rPr lang="en-US" sz="1500" err="1"/>
              <a:t>самый</a:t>
            </a:r>
            <a:r>
              <a:rPr lang="en-US" sz="1500"/>
              <a:t> </a:t>
            </a:r>
            <a:r>
              <a:rPr lang="en-US" sz="1500" err="1"/>
              <a:t>востребованный</a:t>
            </a:r>
            <a:r>
              <a:rPr lang="en-US" sz="1500"/>
              <a:t> </a:t>
            </a:r>
            <a:r>
              <a:rPr lang="en-US" sz="1500" err="1"/>
              <a:t>язык</a:t>
            </a:r>
            <a:r>
              <a:rPr lang="en-US" sz="1500"/>
              <a:t> </a:t>
            </a:r>
            <a:r>
              <a:rPr lang="en-US" sz="1500" err="1"/>
              <a:t>программирования</a:t>
            </a:r>
            <a:r>
              <a:rPr lang="en-US" sz="1500"/>
              <a:t> в 2024 </a:t>
            </a:r>
            <a:r>
              <a:rPr lang="en-US" sz="1500" err="1"/>
              <a:t>году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500" err="1"/>
              <a:t>Существующие</a:t>
            </a:r>
            <a:r>
              <a:rPr lang="en-US" sz="1500"/>
              <a:t> </a:t>
            </a:r>
            <a:r>
              <a:rPr lang="en-US" sz="1500" err="1"/>
              <a:t>платформы</a:t>
            </a:r>
            <a:r>
              <a:rPr lang="en-US" sz="1500"/>
              <a:t> (Coursera, </a:t>
            </a:r>
            <a:r>
              <a:rPr lang="en-US" sz="1500" err="1"/>
              <a:t>Stepik</a:t>
            </a:r>
            <a:r>
              <a:rPr lang="en-US" sz="1500"/>
              <a:t>) </a:t>
            </a:r>
            <a:r>
              <a:rPr lang="en-US" sz="1500" err="1"/>
              <a:t>не</a:t>
            </a:r>
            <a:r>
              <a:rPr lang="en-US" sz="1500"/>
              <a:t> </a:t>
            </a:r>
            <a:r>
              <a:rPr lang="en-US" sz="1500" err="1"/>
              <a:t>адаптированы</a:t>
            </a:r>
            <a:r>
              <a:rPr lang="en-US" sz="1500"/>
              <a:t> </a:t>
            </a:r>
            <a:r>
              <a:rPr lang="en-US" sz="1500" err="1"/>
              <a:t>для</a:t>
            </a:r>
            <a:r>
              <a:rPr lang="en-US" sz="1500"/>
              <a:t> </a:t>
            </a:r>
            <a:r>
              <a:rPr lang="en-US" sz="1500" err="1"/>
              <a:t>мобильного</a:t>
            </a:r>
            <a:r>
              <a:rPr lang="en-US" sz="1500"/>
              <a:t> </a:t>
            </a:r>
            <a:r>
              <a:rPr lang="en-US" sz="1500" err="1"/>
              <a:t>обучения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500" err="1"/>
              <a:t>Новичкам</a:t>
            </a:r>
            <a:r>
              <a:rPr lang="en-US" sz="1500"/>
              <a:t> </a:t>
            </a:r>
            <a:r>
              <a:rPr lang="en-US" sz="1500" err="1"/>
              <a:t>сложно</a:t>
            </a:r>
            <a:r>
              <a:rPr lang="en-US" sz="1500"/>
              <a:t> </a:t>
            </a:r>
            <a:r>
              <a:rPr lang="en-US" sz="1500" err="1"/>
              <a:t>начать</a:t>
            </a:r>
            <a:r>
              <a:rPr lang="en-US" sz="1500"/>
              <a:t> </a:t>
            </a:r>
            <a:r>
              <a:rPr lang="en-US" sz="1500" err="1"/>
              <a:t>без</a:t>
            </a:r>
            <a:r>
              <a:rPr lang="en-US" sz="1500"/>
              <a:t> </a:t>
            </a:r>
            <a:r>
              <a:rPr lang="en-US" sz="1500" err="1"/>
              <a:t>структурированного</a:t>
            </a:r>
            <a:r>
              <a:rPr lang="en-US" sz="1500"/>
              <a:t> </a:t>
            </a:r>
            <a:r>
              <a:rPr lang="en-US" sz="1500" err="1"/>
              <a:t>подхода</a:t>
            </a:r>
            <a:endParaRPr lang="en-US" sz="1500"/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 b="1" err="1"/>
              <a:t>Решение</a:t>
            </a:r>
            <a:r>
              <a:rPr lang="en-US" sz="1500" b="1"/>
              <a:t>:</a:t>
            </a:r>
          </a:p>
          <a:p>
            <a:pPr>
              <a:buFont typeface="Arial"/>
              <a:buChar char="•"/>
            </a:pPr>
            <a:r>
              <a:rPr lang="en-US" sz="1500" err="1"/>
              <a:t>Мобильное</a:t>
            </a:r>
            <a:r>
              <a:rPr lang="en-US" sz="1500"/>
              <a:t> </a:t>
            </a:r>
            <a:r>
              <a:rPr lang="en-US" sz="1500" err="1"/>
              <a:t>приложение</a:t>
            </a:r>
            <a:r>
              <a:rPr lang="en-US" sz="1500"/>
              <a:t> с </a:t>
            </a:r>
            <a:r>
              <a:rPr lang="en-US" sz="1500" err="1"/>
              <a:t>курсами</a:t>
            </a:r>
            <a:r>
              <a:rPr lang="en-US" sz="1500"/>
              <a:t> </a:t>
            </a:r>
            <a:r>
              <a:rPr lang="en-US" sz="1500" err="1"/>
              <a:t>разных</a:t>
            </a:r>
            <a:r>
              <a:rPr lang="en-US" sz="1500"/>
              <a:t> </a:t>
            </a:r>
            <a:r>
              <a:rPr lang="en-US" sz="1500" err="1"/>
              <a:t>уровней</a:t>
            </a:r>
            <a:r>
              <a:rPr lang="en-US" sz="1500"/>
              <a:t> </a:t>
            </a:r>
            <a:r>
              <a:rPr lang="en-US" sz="1500" err="1"/>
              <a:t>сложности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500" err="1"/>
              <a:t>Офлайн-доступ</a:t>
            </a:r>
            <a:r>
              <a:rPr lang="en-US" sz="1500"/>
              <a:t> к </a:t>
            </a:r>
            <a:r>
              <a:rPr lang="en-US" sz="1500" err="1"/>
              <a:t>материалам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500" err="1"/>
              <a:t>Отслеживание</a:t>
            </a:r>
            <a:r>
              <a:rPr lang="en-US" sz="1500"/>
              <a:t> </a:t>
            </a:r>
            <a:r>
              <a:rPr lang="en-US" sz="1500" err="1"/>
              <a:t>прогресса</a:t>
            </a:r>
            <a:r>
              <a:rPr lang="en-US" sz="1500"/>
              <a:t> и </a:t>
            </a:r>
            <a:r>
              <a:rPr lang="en-US" sz="1500" err="1"/>
              <a:t>статистики</a:t>
            </a:r>
            <a:r>
              <a:rPr lang="en-US" sz="1500"/>
              <a:t> </a:t>
            </a:r>
            <a:r>
              <a:rPr lang="en-US" sz="1500" err="1"/>
              <a:t>обучения</a:t>
            </a:r>
            <a:endParaRPr lang="en-US" sz="1500"/>
          </a:p>
          <a:p>
            <a:pPr>
              <a:buFont typeface="Arial"/>
              <a:buChar char="•"/>
            </a:pPr>
            <a:endParaRPr lang="en-US" sz="1500"/>
          </a:p>
          <a:p>
            <a:pPr marL="0" indent="0">
              <a:buNone/>
            </a:pPr>
            <a:r>
              <a:rPr lang="en-US" sz="1500" b="1" err="1"/>
              <a:t>Целевая</a:t>
            </a:r>
            <a:r>
              <a:rPr lang="en-US" sz="1500" b="1"/>
              <a:t> </a:t>
            </a:r>
            <a:r>
              <a:rPr lang="en-US" sz="1500" b="1" err="1"/>
              <a:t>аудитория</a:t>
            </a:r>
            <a:r>
              <a:rPr lang="en-US" sz="1500" b="1"/>
              <a:t>:</a:t>
            </a:r>
          </a:p>
          <a:p>
            <a:pPr>
              <a:buFont typeface="Arial"/>
              <a:buChar char="•"/>
            </a:pPr>
            <a:r>
              <a:rPr lang="en-US" sz="1500" err="1"/>
              <a:t>Начинающие</a:t>
            </a:r>
            <a:r>
              <a:rPr lang="en-US" sz="1500"/>
              <a:t> </a:t>
            </a:r>
            <a:r>
              <a:rPr lang="en-US" sz="1500" err="1"/>
              <a:t>программисты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500" err="1"/>
              <a:t>Студенты</a:t>
            </a:r>
            <a:r>
              <a:rPr lang="en-US" sz="1500"/>
              <a:t> IT-</a:t>
            </a:r>
            <a:r>
              <a:rPr lang="en-US" sz="1500" err="1"/>
              <a:t>специальностей</a:t>
            </a:r>
            <a:endParaRPr lang="en-US" sz="1500"/>
          </a:p>
          <a:p>
            <a:pPr>
              <a:buFont typeface="Arial"/>
              <a:buChar char="•"/>
            </a:pPr>
            <a:r>
              <a:rPr lang="en-US" sz="1500" err="1"/>
              <a:t>Люди</a:t>
            </a:r>
            <a:r>
              <a:rPr lang="en-US" sz="1500"/>
              <a:t>, </a:t>
            </a:r>
            <a:r>
              <a:rPr lang="en-US" sz="1500" err="1"/>
              <a:t>желающие</a:t>
            </a:r>
            <a:r>
              <a:rPr lang="en-US" sz="1500"/>
              <a:t> </a:t>
            </a:r>
            <a:r>
              <a:rPr lang="en-US" sz="1500" err="1"/>
              <a:t>сменить</a:t>
            </a:r>
            <a:r>
              <a:rPr lang="en-US" sz="1500"/>
              <a:t> </a:t>
            </a:r>
            <a:r>
              <a:rPr lang="en-US" sz="1500" err="1"/>
              <a:t>профессию</a:t>
            </a: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90211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Демо - функционал для пользователя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7308" y="347333"/>
            <a:ext cx="6906491" cy="61592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1400" b="1" err="1"/>
              <a:t>Авторизация</a:t>
            </a:r>
            <a:endParaRPr lang="en-US" sz="1400" b="1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Регистрация</a:t>
            </a:r>
            <a:r>
              <a:rPr lang="en-US" sz="1400" dirty="0"/>
              <a:t> с </a:t>
            </a:r>
            <a:r>
              <a:rPr lang="en-US" sz="1400" dirty="0" err="1"/>
              <a:t>валидацией</a:t>
            </a:r>
            <a:r>
              <a:rPr lang="en-US" sz="1400" dirty="0"/>
              <a:t> (</a:t>
            </a:r>
            <a:r>
              <a:rPr lang="en-US" sz="1400" dirty="0" err="1"/>
              <a:t>логин</a:t>
            </a:r>
            <a:r>
              <a:rPr lang="en-US" sz="1400" dirty="0"/>
              <a:t>, email, </a:t>
            </a:r>
            <a:r>
              <a:rPr lang="en-US" sz="1400" dirty="0" err="1"/>
              <a:t>пароль</a:t>
            </a:r>
            <a:r>
              <a:rPr lang="en-US" sz="1400" dirty="0"/>
              <a:t>)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Вход</a:t>
            </a:r>
            <a:r>
              <a:rPr lang="en-US" sz="1400" dirty="0"/>
              <a:t> </a:t>
            </a:r>
            <a:r>
              <a:rPr lang="en-US" sz="1400" dirty="0" err="1"/>
              <a:t>по</a:t>
            </a:r>
            <a:r>
              <a:rPr lang="en-US" sz="1400" dirty="0"/>
              <a:t> </a:t>
            </a:r>
            <a:r>
              <a:rPr lang="en-US" sz="1400" dirty="0" err="1"/>
              <a:t>логину</a:t>
            </a:r>
            <a:r>
              <a:rPr lang="en-US" sz="1400" dirty="0"/>
              <a:t>/</a:t>
            </a:r>
            <a:r>
              <a:rPr lang="en-US" sz="1400" dirty="0" err="1"/>
              <a:t>паролю</a:t>
            </a:r>
            <a:endParaRPr lang="en-US" sz="140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Гостевой</a:t>
            </a:r>
            <a:r>
              <a:rPr lang="en-US" sz="1400" dirty="0"/>
              <a:t> </a:t>
            </a:r>
            <a:r>
              <a:rPr lang="en-US" sz="1400" dirty="0" err="1"/>
              <a:t>режим</a:t>
            </a:r>
            <a:r>
              <a:rPr lang="en-US" sz="1400" dirty="0"/>
              <a:t> — </a:t>
            </a:r>
            <a:r>
              <a:rPr lang="en-US" sz="1400" dirty="0" err="1"/>
              <a:t>просмотр</a:t>
            </a:r>
            <a:r>
              <a:rPr lang="en-US" sz="1400" dirty="0"/>
              <a:t> </a:t>
            </a:r>
            <a:r>
              <a:rPr lang="en-US" sz="1400" dirty="0" err="1"/>
              <a:t>интерфейса</a:t>
            </a:r>
            <a:r>
              <a:rPr lang="en-US" sz="1400" dirty="0"/>
              <a:t> </a:t>
            </a:r>
            <a:r>
              <a:rPr lang="en-US" sz="1400" dirty="0" err="1"/>
              <a:t>без</a:t>
            </a:r>
            <a:r>
              <a:rPr lang="en-US" sz="1400" dirty="0"/>
              <a:t> </a:t>
            </a:r>
            <a:r>
              <a:rPr lang="en-US" sz="1400" dirty="0" err="1"/>
              <a:t>регистрации</a:t>
            </a:r>
            <a:endParaRPr lang="en-US" sz="1400"/>
          </a:p>
          <a:p>
            <a:pPr algn="l"/>
            <a:r>
              <a:rPr lang="en-US" sz="1400" b="1" dirty="0" err="1"/>
              <a:t>Каталог</a:t>
            </a:r>
            <a:r>
              <a:rPr lang="en-US" sz="1400" b="1" dirty="0"/>
              <a:t> </a:t>
            </a:r>
            <a:r>
              <a:rPr lang="en-US" sz="1400" b="1" dirty="0" err="1"/>
              <a:t>курсов</a:t>
            </a:r>
            <a:endParaRPr lang="en-US" sz="1400" b="1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/>
              <a:t>12 </a:t>
            </a:r>
            <a:r>
              <a:rPr lang="en-US" sz="1400" dirty="0" err="1"/>
              <a:t>курсов</a:t>
            </a:r>
            <a:r>
              <a:rPr lang="en-US" sz="1400" dirty="0"/>
              <a:t> Python </a:t>
            </a:r>
            <a:r>
              <a:rPr lang="en-US" sz="1400" dirty="0" err="1"/>
              <a:t>разной</a:t>
            </a:r>
            <a:r>
              <a:rPr lang="en-US" sz="1400" dirty="0"/>
              <a:t> </a:t>
            </a:r>
            <a:r>
              <a:rPr lang="en-US" sz="1400" dirty="0" err="1"/>
              <a:t>сложности</a:t>
            </a:r>
            <a:r>
              <a:rPr lang="en-US" sz="1400" dirty="0"/>
              <a:t>. </a:t>
            </a:r>
            <a:r>
              <a:rPr lang="en-US" sz="1400" dirty="0" err="1"/>
              <a:t>Уровни</a:t>
            </a:r>
            <a:r>
              <a:rPr lang="en-US" sz="1400" dirty="0"/>
              <a:t>: </a:t>
            </a:r>
            <a:r>
              <a:rPr lang="en-US" sz="1400" dirty="0" err="1"/>
              <a:t>Начальный</a:t>
            </a:r>
            <a:r>
              <a:rPr lang="en-US" sz="1400" dirty="0"/>
              <a:t> → </a:t>
            </a:r>
            <a:r>
              <a:rPr lang="en-US" sz="1400" dirty="0" err="1"/>
              <a:t>Средний</a:t>
            </a:r>
            <a:r>
              <a:rPr lang="en-US" sz="1400" dirty="0"/>
              <a:t> → </a:t>
            </a:r>
            <a:r>
              <a:rPr lang="en-US" sz="1400" dirty="0" err="1"/>
              <a:t>Продвинутый</a:t>
            </a:r>
            <a:endParaRPr lang="en-US" sz="1400" dirty="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Фильтрация</a:t>
            </a:r>
            <a:r>
              <a:rPr lang="en-US" sz="1400" dirty="0"/>
              <a:t> </a:t>
            </a:r>
            <a:r>
              <a:rPr lang="en-US" sz="1400" dirty="0" err="1"/>
              <a:t>по</a:t>
            </a:r>
            <a:r>
              <a:rPr lang="en-US" sz="1400" dirty="0"/>
              <a:t> </a:t>
            </a:r>
            <a:r>
              <a:rPr lang="en-US" sz="1400" dirty="0" err="1"/>
              <a:t>уровню</a:t>
            </a:r>
            <a:r>
              <a:rPr lang="en-US" sz="1400" dirty="0"/>
              <a:t> </a:t>
            </a:r>
            <a:r>
              <a:rPr lang="en-US" sz="1400" dirty="0" err="1"/>
              <a:t>сложности</a:t>
            </a:r>
            <a:endParaRPr lang="en-US" sz="140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Добавление</a:t>
            </a:r>
            <a:r>
              <a:rPr lang="en-US" sz="1400" dirty="0"/>
              <a:t> </a:t>
            </a:r>
            <a:r>
              <a:rPr lang="en-US" sz="1400" dirty="0" err="1"/>
              <a:t>курсов</a:t>
            </a:r>
            <a:r>
              <a:rPr lang="en-US" sz="1400" dirty="0"/>
              <a:t> в </a:t>
            </a:r>
            <a:r>
              <a:rPr lang="en-US" sz="1400" dirty="0" err="1"/>
              <a:t>избранное</a:t>
            </a:r>
            <a:r>
              <a:rPr lang="en-US" sz="1400" dirty="0"/>
              <a:t> </a:t>
            </a:r>
          </a:p>
          <a:p>
            <a:pPr algn="l"/>
            <a:r>
              <a:rPr lang="en-US" sz="1400" b="1" err="1"/>
              <a:t>Обучение</a:t>
            </a:r>
            <a:endParaRPr lang="en-US" sz="1400" b="1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Уроки</a:t>
            </a:r>
            <a:r>
              <a:rPr lang="en-US" sz="1400" dirty="0"/>
              <a:t> с </a:t>
            </a:r>
            <a:r>
              <a:rPr lang="en-US" sz="1400" dirty="0" err="1"/>
              <a:t>теорией</a:t>
            </a:r>
            <a:endParaRPr lang="en-US" sz="1400" dirty="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Отметка</a:t>
            </a:r>
            <a:r>
              <a:rPr lang="en-US" sz="1400" dirty="0"/>
              <a:t> о </a:t>
            </a:r>
            <a:r>
              <a:rPr lang="en-US" sz="1400" dirty="0" err="1"/>
              <a:t>прохождении</a:t>
            </a:r>
            <a:r>
              <a:rPr lang="en-US" sz="1400" dirty="0"/>
              <a:t> </a:t>
            </a:r>
            <a:r>
              <a:rPr lang="en-US" sz="1400" dirty="0" err="1"/>
              <a:t>каждого</a:t>
            </a:r>
            <a:r>
              <a:rPr lang="en-US" sz="1400" dirty="0"/>
              <a:t> </a:t>
            </a:r>
            <a:r>
              <a:rPr lang="en-US" sz="1400" dirty="0" err="1"/>
              <a:t>урока</a:t>
            </a:r>
            <a:endParaRPr lang="en-US" sz="140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Автоматический</a:t>
            </a:r>
            <a:r>
              <a:rPr lang="en-US" sz="1400" dirty="0"/>
              <a:t> </a:t>
            </a:r>
            <a:r>
              <a:rPr lang="en-US" sz="1400" dirty="0" err="1"/>
              <a:t>подсчёт</a:t>
            </a:r>
            <a:r>
              <a:rPr lang="en-US" sz="1400" dirty="0"/>
              <a:t> </a:t>
            </a:r>
            <a:r>
              <a:rPr lang="en-US" sz="1400" dirty="0" err="1"/>
              <a:t>времени</a:t>
            </a:r>
            <a:r>
              <a:rPr lang="en-US" sz="1400" dirty="0"/>
              <a:t> </a:t>
            </a:r>
            <a:r>
              <a:rPr lang="en-US" sz="1400" dirty="0" err="1"/>
              <a:t>обучения</a:t>
            </a:r>
            <a:endParaRPr lang="en-US" sz="1400"/>
          </a:p>
          <a:p>
            <a:pPr algn="l"/>
            <a:r>
              <a:rPr lang="en-US" sz="1400" b="1" dirty="0" err="1"/>
              <a:t>Профиль</a:t>
            </a:r>
            <a:r>
              <a:rPr lang="en-US" sz="1400" b="1" dirty="0"/>
              <a:t> </a:t>
            </a:r>
            <a:r>
              <a:rPr lang="en-US" sz="1400" b="1" dirty="0" err="1"/>
              <a:t>пользователя</a:t>
            </a:r>
            <a:endParaRPr lang="en-US" sz="1400" b="1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Редактирование</a:t>
            </a:r>
            <a:r>
              <a:rPr lang="en-US" sz="1400" dirty="0"/>
              <a:t> </a:t>
            </a:r>
            <a:r>
              <a:rPr lang="en-US" sz="1400" dirty="0" err="1"/>
              <a:t>личных</a:t>
            </a:r>
            <a:r>
              <a:rPr lang="en-US" sz="1400" dirty="0"/>
              <a:t> </a:t>
            </a:r>
            <a:r>
              <a:rPr lang="en-US" sz="1400" dirty="0" err="1"/>
              <a:t>данных</a:t>
            </a:r>
            <a:endParaRPr lang="en-US" sz="140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Выбор</a:t>
            </a:r>
            <a:r>
              <a:rPr lang="en-US" sz="1400" dirty="0"/>
              <a:t> </a:t>
            </a:r>
            <a:r>
              <a:rPr lang="en-US" sz="1400" dirty="0" err="1"/>
              <a:t>аватара</a:t>
            </a:r>
            <a:r>
              <a:rPr lang="en-US" sz="1400" dirty="0"/>
              <a:t>, </a:t>
            </a:r>
            <a:r>
              <a:rPr lang="en-US" sz="1400" dirty="0" err="1"/>
              <a:t>загружанмого</a:t>
            </a:r>
            <a:r>
              <a:rPr lang="en-US" sz="1400" dirty="0"/>
              <a:t> </a:t>
            </a:r>
            <a:r>
              <a:rPr lang="en-US" sz="1400" dirty="0" err="1"/>
              <a:t>из</a:t>
            </a:r>
            <a:r>
              <a:rPr lang="en-US" sz="1400" dirty="0"/>
              <a:t> </a:t>
            </a:r>
            <a:r>
              <a:rPr lang="en-US" sz="1400" dirty="0" err="1"/>
              <a:t>галереи</a:t>
            </a:r>
            <a:r>
              <a:rPr lang="en-US" sz="1400" dirty="0"/>
              <a:t> </a:t>
            </a:r>
            <a:r>
              <a:rPr lang="en-US" sz="1400" dirty="0" err="1"/>
              <a:t>мобильного</a:t>
            </a:r>
            <a:r>
              <a:rPr lang="en-US" sz="1400" dirty="0"/>
              <a:t> </a:t>
            </a:r>
            <a:r>
              <a:rPr lang="en-US" sz="1400" dirty="0" err="1"/>
              <a:t>устройства</a:t>
            </a:r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Статистика</a:t>
            </a:r>
            <a:r>
              <a:rPr lang="en-US" sz="1400" dirty="0"/>
              <a:t>: </a:t>
            </a:r>
            <a:r>
              <a:rPr lang="en-US" sz="1400" dirty="0" err="1"/>
              <a:t>завершённые</a:t>
            </a:r>
            <a:r>
              <a:rPr lang="en-US" sz="1400" dirty="0"/>
              <a:t> </a:t>
            </a:r>
            <a:r>
              <a:rPr lang="en-US" sz="1400" dirty="0" err="1"/>
              <a:t>курсы</a:t>
            </a:r>
            <a:r>
              <a:rPr lang="en-US" sz="1400" dirty="0"/>
              <a:t>, </a:t>
            </a:r>
            <a:r>
              <a:rPr lang="en-US" sz="1400" dirty="0" err="1"/>
              <a:t>общее</a:t>
            </a:r>
            <a:r>
              <a:rPr lang="en-US" sz="1400" dirty="0"/>
              <a:t> </a:t>
            </a:r>
            <a:r>
              <a:rPr lang="en-US" sz="1400" dirty="0" err="1"/>
              <a:t>время</a:t>
            </a:r>
            <a:endParaRPr lang="en-US" sz="1400"/>
          </a:p>
          <a:p>
            <a:pPr marL="285750" indent="-228600" algn="l">
              <a:buFont typeface="Arial" panose="020B0604020202020204" pitchFamily="34" charset="0"/>
              <a:buChar char="•"/>
            </a:pPr>
            <a:r>
              <a:rPr lang="en-US" sz="1400" dirty="0" err="1"/>
              <a:t>Чат</a:t>
            </a:r>
            <a:r>
              <a:rPr lang="en-US" sz="1400" dirty="0"/>
              <a:t> с </a:t>
            </a:r>
            <a:r>
              <a:rPr lang="en-US" sz="1400" dirty="0" err="1"/>
              <a:t>технической</a:t>
            </a:r>
            <a:r>
              <a:rPr lang="en-US" sz="1400" dirty="0"/>
              <a:t> </a:t>
            </a:r>
            <a:r>
              <a:rPr lang="en-US" sz="1400" dirty="0" err="1"/>
              <a:t>поддержкой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80FC5-BAB1-7B5C-1BA3-05BC48F63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Демо-Административная панель </a:t>
            </a: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F6FA-6B25-8548-3477-9FAF5FFD7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432" y="321648"/>
            <a:ext cx="6906491" cy="63733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400" b="1" dirty="0" err="1"/>
              <a:t>Управление</a:t>
            </a:r>
            <a:r>
              <a:rPr lang="en-US" sz="1400" b="1" dirty="0"/>
              <a:t> </a:t>
            </a:r>
            <a:r>
              <a:rPr lang="en-US" sz="1400" b="1" dirty="0" err="1"/>
              <a:t>курсами</a:t>
            </a:r>
            <a:endParaRPr lang="en-US" sz="1400" b="1" dirty="0"/>
          </a:p>
          <a:p>
            <a:pPr>
              <a:buFont typeface="Arial"/>
              <a:buChar char="•"/>
            </a:pPr>
            <a:r>
              <a:rPr lang="en-US" sz="1400" dirty="0" err="1"/>
              <a:t>Создание</a:t>
            </a:r>
            <a:r>
              <a:rPr lang="en-US" sz="1400" dirty="0"/>
              <a:t> </a:t>
            </a:r>
            <a:r>
              <a:rPr lang="en-US" sz="1400" dirty="0" err="1"/>
              <a:t>новых</a:t>
            </a:r>
            <a:r>
              <a:rPr lang="en-US" sz="1400" dirty="0"/>
              <a:t> </a:t>
            </a:r>
            <a:r>
              <a:rPr lang="en-US" sz="1400" dirty="0" err="1"/>
              <a:t>курсов</a:t>
            </a:r>
            <a:r>
              <a:rPr lang="en-US" sz="1400" dirty="0"/>
              <a:t> с </a:t>
            </a:r>
            <a:r>
              <a:rPr lang="en-US" sz="1400" dirty="0" err="1"/>
              <a:t>названием</a:t>
            </a:r>
            <a:r>
              <a:rPr lang="en-US" sz="1400" dirty="0"/>
              <a:t>, </a:t>
            </a:r>
            <a:r>
              <a:rPr lang="en-US" sz="1400" dirty="0" err="1"/>
              <a:t>описанием</a:t>
            </a:r>
            <a:r>
              <a:rPr lang="en-US" sz="1400" dirty="0"/>
              <a:t>, </a:t>
            </a:r>
            <a:r>
              <a:rPr lang="en-US" sz="1400" dirty="0" err="1"/>
              <a:t>уровнем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dirty="0" err="1"/>
              <a:t>Редактирование</a:t>
            </a:r>
            <a:r>
              <a:rPr lang="en-US" sz="1400" dirty="0"/>
              <a:t> </a:t>
            </a:r>
            <a:r>
              <a:rPr lang="en-US" sz="1400" dirty="0" err="1"/>
              <a:t>существующих</a:t>
            </a:r>
            <a:r>
              <a:rPr lang="en-US" sz="1400" dirty="0"/>
              <a:t> </a:t>
            </a:r>
            <a:r>
              <a:rPr lang="en-US" sz="1400" dirty="0" err="1"/>
              <a:t>курсов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dirty="0" err="1"/>
              <a:t>Удаление</a:t>
            </a:r>
            <a:r>
              <a:rPr lang="en-US" sz="1400" dirty="0"/>
              <a:t> </a:t>
            </a:r>
            <a:r>
              <a:rPr lang="en-US" sz="1400" dirty="0" err="1"/>
              <a:t>курсов</a:t>
            </a:r>
          </a:p>
          <a:p>
            <a:pPr marL="0" indent="0">
              <a:buNone/>
            </a:pPr>
            <a:r>
              <a:rPr lang="en-US" sz="1400" b="1" dirty="0" err="1"/>
              <a:t>Управление</a:t>
            </a:r>
            <a:r>
              <a:rPr lang="en-US" sz="1400" b="1" dirty="0"/>
              <a:t> </a:t>
            </a:r>
            <a:r>
              <a:rPr lang="en-US" sz="1400" b="1" dirty="0" err="1"/>
              <a:t>уроками</a:t>
            </a:r>
            <a:endParaRPr lang="en-US" sz="1400" b="1" dirty="0"/>
          </a:p>
          <a:p>
            <a:pPr>
              <a:buFont typeface="Arial"/>
              <a:buChar char="•"/>
            </a:pPr>
            <a:r>
              <a:rPr lang="en-US" sz="1400" dirty="0" err="1"/>
              <a:t>Добавление</a:t>
            </a:r>
            <a:r>
              <a:rPr lang="en-US" sz="1400" dirty="0"/>
              <a:t> </a:t>
            </a:r>
            <a:r>
              <a:rPr lang="en-US" sz="1400" dirty="0" err="1"/>
              <a:t>уроков</a:t>
            </a:r>
            <a:r>
              <a:rPr lang="en-US" sz="1400" dirty="0"/>
              <a:t> в </a:t>
            </a:r>
            <a:r>
              <a:rPr lang="en-US" sz="1400" dirty="0" err="1"/>
              <a:t>курсы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dirty="0" err="1"/>
              <a:t>Редактирование</a:t>
            </a:r>
            <a:r>
              <a:rPr lang="en-US" sz="1400" dirty="0"/>
              <a:t> </a:t>
            </a:r>
            <a:r>
              <a:rPr lang="en-US" sz="1400" dirty="0" err="1"/>
              <a:t>содержимого</a:t>
            </a:r>
            <a:r>
              <a:rPr lang="en-US" sz="1400" dirty="0"/>
              <a:t> </a:t>
            </a:r>
            <a:r>
              <a:rPr lang="en-US" sz="1400" dirty="0" err="1"/>
              <a:t>теории</a:t>
            </a:r>
          </a:p>
          <a:p>
            <a:pPr>
              <a:buFont typeface="Arial"/>
              <a:buChar char="•"/>
            </a:pPr>
            <a:r>
              <a:rPr lang="en-US" sz="1400" dirty="0" err="1"/>
              <a:t>Настройка</a:t>
            </a:r>
            <a:r>
              <a:rPr lang="en-US" sz="1400" dirty="0"/>
              <a:t> </a:t>
            </a:r>
            <a:r>
              <a:rPr lang="en-US" sz="1400" dirty="0" err="1"/>
              <a:t>длительности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dirty="0" err="1"/>
              <a:t>Удаление</a:t>
            </a:r>
            <a:r>
              <a:rPr lang="en-US" sz="1400" dirty="0"/>
              <a:t> </a:t>
            </a:r>
            <a:r>
              <a:rPr lang="en-US" sz="1400" dirty="0" err="1"/>
              <a:t>уроков</a:t>
            </a:r>
            <a:endParaRPr lang="en-US" sz="1400" dirty="0"/>
          </a:p>
          <a:p>
            <a:pPr marL="0" indent="0">
              <a:buFont typeface="Arial"/>
              <a:buNone/>
            </a:pPr>
            <a:r>
              <a:rPr lang="en-US" sz="1400" b="1" dirty="0" err="1"/>
              <a:t>Управление</a:t>
            </a:r>
            <a:r>
              <a:rPr lang="en-US" sz="1400" b="1" dirty="0"/>
              <a:t> </a:t>
            </a:r>
            <a:r>
              <a:rPr lang="en-US" sz="1400" b="1" dirty="0" err="1"/>
              <a:t>пользователями</a:t>
            </a:r>
            <a:endParaRPr lang="en-US" sz="1400" b="1" dirty="0"/>
          </a:p>
          <a:p>
            <a:pPr>
              <a:buFont typeface="Arial"/>
              <a:buChar char="•"/>
            </a:pPr>
            <a:r>
              <a:rPr lang="en-US" sz="1400" dirty="0" err="1"/>
              <a:t>Просмотр</a:t>
            </a:r>
            <a:r>
              <a:rPr lang="en-US" sz="1400" dirty="0"/>
              <a:t> </a:t>
            </a:r>
            <a:r>
              <a:rPr lang="en-US" sz="1400" dirty="0" err="1"/>
              <a:t>списка</a:t>
            </a:r>
            <a:r>
              <a:rPr lang="en-US" sz="1400" dirty="0"/>
              <a:t> </a:t>
            </a:r>
            <a:r>
              <a:rPr lang="en-US" sz="1400" dirty="0" err="1"/>
              <a:t>всех</a:t>
            </a:r>
            <a:r>
              <a:rPr lang="en-US" sz="1400" dirty="0"/>
              <a:t> </a:t>
            </a:r>
            <a:r>
              <a:rPr lang="en-US" sz="1400" dirty="0" err="1"/>
              <a:t>пользователей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dirty="0" err="1"/>
              <a:t>Редактирование</a:t>
            </a:r>
            <a:r>
              <a:rPr lang="en-US" sz="1400" dirty="0"/>
              <a:t> </a:t>
            </a:r>
            <a:r>
              <a:rPr lang="en-US" sz="1400" dirty="0" err="1"/>
              <a:t>данных</a:t>
            </a:r>
            <a:r>
              <a:rPr lang="en-US" sz="1400" dirty="0"/>
              <a:t> </a:t>
            </a:r>
            <a:r>
              <a:rPr lang="en-US" sz="1400" dirty="0" err="1"/>
              <a:t>пользователей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dirty="0" err="1"/>
              <a:t>Удаление</a:t>
            </a:r>
            <a:r>
              <a:rPr lang="en-US" sz="1400" dirty="0"/>
              <a:t> </a:t>
            </a:r>
            <a:r>
              <a:rPr lang="en-US" sz="1400" dirty="0" err="1"/>
              <a:t>аккаунтов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 err="1"/>
              <a:t>Аналитика</a:t>
            </a:r>
            <a:r>
              <a:rPr lang="en-US" sz="1400" b="1" dirty="0"/>
              <a:t> и </a:t>
            </a:r>
            <a:r>
              <a:rPr lang="en-US" sz="1400" b="1" dirty="0" err="1"/>
              <a:t>поддержка</a:t>
            </a:r>
            <a:endParaRPr lang="en-US" sz="1400" b="1" dirty="0"/>
          </a:p>
          <a:p>
            <a:pPr>
              <a:buFont typeface="Arial"/>
              <a:buChar char="•"/>
            </a:pPr>
            <a:r>
              <a:rPr lang="en-US" sz="1400" dirty="0" err="1"/>
              <a:t>Ответы</a:t>
            </a:r>
            <a:r>
              <a:rPr lang="en-US" sz="1400" dirty="0"/>
              <a:t> </a:t>
            </a:r>
            <a:r>
              <a:rPr lang="en-US" sz="1400" dirty="0" err="1"/>
              <a:t>на</a:t>
            </a:r>
            <a:r>
              <a:rPr lang="en-US" sz="1400" dirty="0"/>
              <a:t> </a:t>
            </a:r>
            <a:r>
              <a:rPr lang="en-US" sz="1400" dirty="0" err="1"/>
              <a:t>сообщения</a:t>
            </a:r>
            <a:r>
              <a:rPr lang="en-US" sz="1400" dirty="0"/>
              <a:t> </a:t>
            </a:r>
            <a:r>
              <a:rPr lang="en-US" sz="1400" dirty="0" err="1"/>
              <a:t>пользователей</a:t>
            </a:r>
            <a:r>
              <a:rPr lang="en-US" sz="1400" dirty="0"/>
              <a:t> в </a:t>
            </a:r>
            <a:r>
              <a:rPr lang="en-US" sz="1400" dirty="0" err="1"/>
              <a:t>чате</a:t>
            </a:r>
          </a:p>
          <a:p>
            <a:pPr>
              <a:buNone/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18761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D6FE7-B4E0-21DA-5635-AF7F1EBCC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47" y="431212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2800"/>
              <a:t>Архитектура приложения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A89B40-19BE-CA3B-8D0C-67422330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" y="2769378"/>
            <a:ext cx="4305886" cy="406881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24475-6AE7-6FDE-987A-48155F4B6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0176" y="678955"/>
            <a:ext cx="5586448" cy="540974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b="1" dirty="0" err="1"/>
              <a:t>Паттерн</a:t>
            </a:r>
            <a:r>
              <a:rPr lang="en-US" sz="1800" b="1" dirty="0"/>
              <a:t>:</a:t>
            </a:r>
            <a:r>
              <a:rPr lang="en-US" sz="1800" dirty="0"/>
              <a:t> Single Activity + Jetpack Compose</a:t>
            </a:r>
          </a:p>
          <a:p>
            <a:pPr marL="0" indent="0">
              <a:buNone/>
            </a:pPr>
            <a:endParaRPr lang="en-US" sz="1800" dirty="0"/>
          </a:p>
          <a:p>
            <a:pPr>
              <a:buNone/>
            </a:pPr>
            <a:r>
              <a:rPr lang="en-US" sz="1800" b="1" dirty="0" err="1"/>
              <a:t>Управление</a:t>
            </a:r>
            <a:r>
              <a:rPr lang="en-US" sz="1800" b="1" dirty="0"/>
              <a:t> </a:t>
            </a:r>
            <a:r>
              <a:rPr lang="en-US" sz="1800" b="1" dirty="0" err="1"/>
              <a:t>состоянием</a:t>
            </a:r>
            <a:endParaRPr lang="en-US" sz="1800" b="1" dirty="0"/>
          </a:p>
          <a:p>
            <a:pPr>
              <a:buFont typeface="Arial"/>
              <a:buChar char="•"/>
            </a:pPr>
            <a:r>
              <a:rPr lang="en-US" sz="1800" dirty="0"/>
              <a:t>State Hoisting — </a:t>
            </a:r>
            <a:r>
              <a:rPr lang="en-US" sz="1800" dirty="0" err="1"/>
              <a:t>подъём</a:t>
            </a:r>
            <a:r>
              <a:rPr lang="en-US" sz="1800" dirty="0"/>
              <a:t> </a:t>
            </a:r>
            <a:r>
              <a:rPr lang="en-US" sz="1800" dirty="0" err="1"/>
              <a:t>состояния</a:t>
            </a:r>
            <a:r>
              <a:rPr lang="en-US" sz="1800" dirty="0"/>
              <a:t> к </a:t>
            </a:r>
            <a:r>
              <a:rPr lang="en-US" sz="1800" dirty="0" err="1"/>
              <a:t>родителям</a:t>
            </a:r>
            <a:endParaRPr lang="en-US" sz="1800" dirty="0"/>
          </a:p>
          <a:p>
            <a:pPr>
              <a:buFont typeface="Arial"/>
              <a:buChar char="•"/>
            </a:pPr>
            <a:r>
              <a:rPr lang="en-US" sz="1800" dirty="0"/>
              <a:t>remember + </a:t>
            </a:r>
            <a:r>
              <a:rPr lang="en-US" sz="1800" dirty="0" err="1"/>
              <a:t>mutableStateOf</a:t>
            </a:r>
            <a:r>
              <a:rPr lang="en-US" sz="1800" dirty="0"/>
              <a:t> — </a:t>
            </a:r>
            <a:r>
              <a:rPr lang="en-US" sz="1800" dirty="0" err="1"/>
              <a:t>реактивное</a:t>
            </a:r>
            <a:r>
              <a:rPr lang="en-US" sz="1800" dirty="0"/>
              <a:t> </a:t>
            </a:r>
            <a:r>
              <a:rPr lang="en-US" sz="1800" dirty="0" err="1"/>
              <a:t>состояние</a:t>
            </a:r>
            <a:endParaRPr lang="en-US" sz="1800" dirty="0"/>
          </a:p>
          <a:p>
            <a:pPr>
              <a:buFont typeface="Arial"/>
              <a:buChar char="•"/>
            </a:pPr>
            <a:r>
              <a:rPr lang="en-US" sz="1800" dirty="0"/>
              <a:t>Callback-</a:t>
            </a:r>
            <a:r>
              <a:rPr lang="en-US" sz="1800" dirty="0" err="1"/>
              <a:t>навигация</a:t>
            </a:r>
            <a:r>
              <a:rPr lang="en-US" sz="1800" dirty="0"/>
              <a:t> — </a:t>
            </a:r>
            <a:r>
              <a:rPr lang="en-US" sz="1800" dirty="0" err="1"/>
              <a:t>передача</a:t>
            </a:r>
            <a:r>
              <a:rPr lang="en-US" sz="1800" dirty="0"/>
              <a:t> </a:t>
            </a:r>
            <a:r>
              <a:rPr lang="en-US" sz="1800" dirty="0" err="1"/>
              <a:t>функций</a:t>
            </a:r>
            <a:r>
              <a:rPr lang="en-US" sz="1800" dirty="0"/>
              <a:t> </a:t>
            </a:r>
            <a:r>
              <a:rPr lang="en-US" sz="1800" dirty="0" err="1"/>
              <a:t>между</a:t>
            </a:r>
            <a:r>
              <a:rPr lang="en-US" sz="1800" dirty="0"/>
              <a:t> </a:t>
            </a:r>
            <a:r>
              <a:rPr lang="en-US" sz="1800" dirty="0" err="1"/>
              <a:t>экранами</a:t>
            </a:r>
            <a:endParaRPr lang="en-US" sz="1800" b="1" dirty="0" err="1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 b="1" dirty="0" err="1"/>
              <a:t>Слои</a:t>
            </a:r>
            <a:r>
              <a:rPr lang="en-US" sz="1800" b="1" dirty="0"/>
              <a:t> </a:t>
            </a:r>
            <a:r>
              <a:rPr lang="en-US" sz="1800" b="1" dirty="0" err="1"/>
              <a:t>приложения</a:t>
            </a:r>
            <a:endParaRPr lang="en-US" sz="1800" b="1" dirty="0"/>
          </a:p>
          <a:p>
            <a:pPr>
              <a:buFont typeface="Arial"/>
              <a:buChar char="•"/>
            </a:pPr>
            <a:r>
              <a:rPr lang="en-US" sz="1800" dirty="0"/>
              <a:t>UI Layer: Composable-</a:t>
            </a:r>
            <a:r>
              <a:rPr lang="en-US" sz="1800" dirty="0" err="1"/>
              <a:t>функции</a:t>
            </a:r>
            <a:r>
              <a:rPr lang="en-US" sz="1800" dirty="0"/>
              <a:t> (</a:t>
            </a:r>
            <a:r>
              <a:rPr lang="en-US" sz="1800" dirty="0" err="1"/>
              <a:t>AuthScreens.kt</a:t>
            </a:r>
            <a:r>
              <a:rPr lang="en-US" sz="1800" dirty="0"/>
              <a:t>)</a:t>
            </a:r>
          </a:p>
          <a:p>
            <a:pPr>
              <a:buFont typeface="Arial"/>
              <a:buChar char="•"/>
            </a:pPr>
            <a:r>
              <a:rPr lang="en-US" sz="1800" dirty="0"/>
              <a:t>Data Layer: SQLite </a:t>
            </a:r>
            <a:r>
              <a:rPr lang="en-US" sz="1800" dirty="0" err="1"/>
              <a:t>через</a:t>
            </a:r>
            <a:r>
              <a:rPr lang="en-US" sz="1800" dirty="0"/>
              <a:t> </a:t>
            </a:r>
            <a:r>
              <a:rPr lang="en-US" sz="1800" dirty="0" err="1"/>
              <a:t>LocalDatabase.kt</a:t>
            </a:r>
            <a:endParaRPr lang="en-US" sz="1800" dirty="0"/>
          </a:p>
          <a:p>
            <a:pPr>
              <a:buFont typeface="Arial"/>
              <a:buChar char="•"/>
            </a:pPr>
            <a:r>
              <a:rPr lang="en-US" sz="1800" dirty="0"/>
              <a:t>Export Layer: Apache POI (</a:t>
            </a:r>
            <a:r>
              <a:rPr lang="en-US" sz="1800" dirty="0" err="1"/>
              <a:t>ExcelExporter.kt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89741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35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9E984E-CE86-8033-EA11-060C38318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База данных 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186E9B-48AC-9F5F-44CE-8544FCD1A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988773"/>
              </p:ext>
            </p:extLst>
          </p:nvPr>
        </p:nvGraphicFramePr>
        <p:xfrm>
          <a:off x="899557" y="1675227"/>
          <a:ext cx="10392886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3954">
                  <a:extLst>
                    <a:ext uri="{9D8B030D-6E8A-4147-A177-3AD203B41FA5}">
                      <a16:colId xmlns:a16="http://schemas.microsoft.com/office/drawing/2014/main" val="1374198474"/>
                    </a:ext>
                  </a:extLst>
                </a:gridCol>
                <a:gridCol w="5548932">
                  <a:extLst>
                    <a:ext uri="{9D8B030D-6E8A-4147-A177-3AD203B41FA5}">
                      <a16:colId xmlns:a16="http://schemas.microsoft.com/office/drawing/2014/main" val="3532563178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algn="ctr"/>
                      <a:r>
                        <a:rPr lang="en-US" sz="2500" err="1"/>
                        <a:t>Таблица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err="1"/>
                        <a:t>Назначение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412361039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dirty="0"/>
                        <a:t>users</a:t>
                      </a:r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err="1"/>
                        <a:t>Пользователи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377518811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dirty="0"/>
                        <a:t>courses</a:t>
                      </a:r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err="1"/>
                        <a:t>Курсы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18517181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dirty="0"/>
                        <a:t>lessons</a:t>
                      </a:r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dirty="0" err="1"/>
                        <a:t>Уроки</a:t>
                      </a:r>
                      <a:r>
                        <a:rPr lang="en-US" sz="2500" dirty="0"/>
                        <a:t> </a:t>
                      </a:r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177267296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err="1"/>
                        <a:t>user_stats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err="1"/>
                        <a:t>Статистика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330834865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err="1"/>
                        <a:t>lesson_progress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dirty="0" err="1"/>
                        <a:t>Прогресс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уроков</a:t>
                      </a:r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2747517852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dirty="0"/>
                        <a:t>favorites</a:t>
                      </a:r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err="1"/>
                        <a:t>Избранное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2705777008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500" err="1"/>
                        <a:t>Support_messages</a:t>
                      </a:r>
                      <a:endParaRPr lang="en-US" sz="2500" dirty="0" err="1"/>
                    </a:p>
                  </a:txBody>
                  <a:tcPr marL="124835" marR="124835" marT="62418" marB="62418"/>
                </a:tc>
                <a:tc>
                  <a:txBody>
                    <a:bodyPr/>
                    <a:lstStyle/>
                    <a:p>
                      <a:r>
                        <a:rPr lang="en-US" sz="2500" dirty="0" err="1"/>
                        <a:t>Чат</a:t>
                      </a:r>
                      <a:r>
                        <a:rPr lang="en-US" sz="2500" dirty="0"/>
                        <a:t> </a:t>
                      </a:r>
                      <a:r>
                        <a:rPr lang="en-US" sz="2500" dirty="0" err="1"/>
                        <a:t>поддержки</a:t>
                      </a:r>
                    </a:p>
                  </a:txBody>
                  <a:tcPr marL="124835" marR="124835" marT="62418" marB="62418"/>
                </a:tc>
                <a:extLst>
                  <a:ext uri="{0D108BD9-81ED-4DB2-BD59-A6C34878D82A}">
                    <a16:rowId xmlns:a16="http://schemas.microsoft.com/office/drawing/2014/main" val="9766987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48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C45878-C920-FA14-8801-8D3B59037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Технологический стек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4DDBA9-E12B-A478-281B-B69FEEA78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8714"/>
              </p:ext>
            </p:extLst>
          </p:nvPr>
        </p:nvGraphicFramePr>
        <p:xfrm>
          <a:off x="713488" y="1675227"/>
          <a:ext cx="10765023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0185">
                  <a:extLst>
                    <a:ext uri="{9D8B030D-6E8A-4147-A177-3AD203B41FA5}">
                      <a16:colId xmlns:a16="http://schemas.microsoft.com/office/drawing/2014/main" val="2548973169"/>
                    </a:ext>
                  </a:extLst>
                </a:gridCol>
                <a:gridCol w="4544838">
                  <a:extLst>
                    <a:ext uri="{9D8B030D-6E8A-4147-A177-3AD203B41FA5}">
                      <a16:colId xmlns:a16="http://schemas.microsoft.com/office/drawing/2014/main" val="3219831447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algn="ctr"/>
                      <a:r>
                        <a:rPr lang="en-US" sz="2400" err="1"/>
                        <a:t>Категория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err="1"/>
                        <a:t>Технология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2682623791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 err="1"/>
                        <a:t>Язык</a:t>
                      </a:r>
                      <a:r>
                        <a:rPr lang="en-US" sz="2400"/>
                        <a:t> </a:t>
                      </a:r>
                      <a:r>
                        <a:rPr lang="en-US" sz="2400" err="1"/>
                        <a:t>программирования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Kotlin 1.9+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296598913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/>
                        <a:t>UI 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Jetpack Compose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1856872744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 err="1"/>
                        <a:t>Дизайн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Material 3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6832002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 err="1"/>
                        <a:t>База</a:t>
                      </a:r>
                      <a:r>
                        <a:rPr lang="en-US" sz="2400"/>
                        <a:t> </a:t>
                      </a:r>
                      <a:r>
                        <a:rPr lang="en-US" sz="2400" err="1"/>
                        <a:t>данных</a:t>
                      </a:r>
                      <a:r>
                        <a:rPr lang="en-US" sz="2400"/>
                        <a:t> </a:t>
                      </a:r>
                      <a:endParaRPr lang="en-US" sz="2400" err="1"/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SQL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3550780529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 err="1"/>
                        <a:t>Сборка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Gradle 8.0+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2765499910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/>
                        <a:t>Min SDK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API 24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587200917"/>
                  </a:ext>
                </a:extLst>
              </a:tr>
              <a:tr h="549275">
                <a:tc>
                  <a:txBody>
                    <a:bodyPr/>
                    <a:lstStyle/>
                    <a:p>
                      <a:r>
                        <a:rPr lang="en-US" sz="2400"/>
                        <a:t>Target SDK</a:t>
                      </a:r>
                    </a:p>
                  </a:txBody>
                  <a:tcPr marL="126622" marR="126622" marT="63312" marB="63312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API 34</a:t>
                      </a:r>
                    </a:p>
                  </a:txBody>
                  <a:tcPr marL="126622" marR="126622" marT="63312" marB="63312"/>
                </a:tc>
                <a:extLst>
                  <a:ext uri="{0D108BD9-81ED-4DB2-BD59-A6C34878D82A}">
                    <a16:rowId xmlns:a16="http://schemas.microsoft.com/office/drawing/2014/main" val="59405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07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BB551-39AB-A569-1564-A10CB5D4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Выводы и планы развития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CA06E-6FE9-B9D6-FD08-B12B14F22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93222"/>
            <a:ext cx="6906491" cy="666440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n-US" sz="1200" b="1" dirty="0" err="1"/>
              <a:t>Что</a:t>
            </a:r>
            <a:r>
              <a:rPr lang="en-US" sz="1200" b="1" dirty="0"/>
              <a:t> </a:t>
            </a:r>
            <a:r>
              <a:rPr lang="en-US" sz="1200" b="1" dirty="0" err="1"/>
              <a:t>реализовано</a:t>
            </a:r>
            <a:r>
              <a:rPr lang="en-US" sz="1200" b="1" dirty="0"/>
              <a:t> 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Полный</a:t>
            </a:r>
            <a:r>
              <a:rPr lang="en-US" sz="1200" dirty="0"/>
              <a:t> CRUD </a:t>
            </a:r>
            <a:r>
              <a:rPr lang="en-US" sz="1200" dirty="0" err="1"/>
              <a:t>для</a:t>
            </a:r>
            <a:r>
              <a:rPr lang="en-US" sz="1200" dirty="0"/>
              <a:t> </a:t>
            </a:r>
            <a:r>
              <a:rPr lang="en-US" sz="1200" dirty="0" err="1"/>
              <a:t>курсов</a:t>
            </a:r>
            <a:r>
              <a:rPr lang="en-US" sz="1200" dirty="0"/>
              <a:t>, </a:t>
            </a:r>
            <a:r>
              <a:rPr lang="en-US" sz="1200" dirty="0" err="1"/>
              <a:t>уроков</a:t>
            </a:r>
            <a:r>
              <a:rPr lang="en-US" sz="1200" dirty="0"/>
              <a:t>, </a:t>
            </a:r>
            <a:r>
              <a:rPr lang="en-US" sz="1200" dirty="0" err="1"/>
              <a:t>пользователей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Авторизация</a:t>
            </a:r>
            <a:r>
              <a:rPr lang="en-US" sz="1200" dirty="0"/>
              <a:t> + </a:t>
            </a:r>
            <a:r>
              <a:rPr lang="en-US" sz="1200" dirty="0" err="1"/>
              <a:t>гостевой</a:t>
            </a:r>
            <a:r>
              <a:rPr lang="en-US" sz="1200" dirty="0"/>
              <a:t> </a:t>
            </a:r>
            <a:r>
              <a:rPr lang="en-US" sz="1200" dirty="0" err="1"/>
              <a:t>режим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/>
              <a:t>2 </a:t>
            </a:r>
            <a:r>
              <a:rPr lang="en-US" sz="1200" dirty="0" err="1"/>
              <a:t>роли</a:t>
            </a:r>
            <a:r>
              <a:rPr lang="en-US" sz="1200" dirty="0"/>
              <a:t>: </a:t>
            </a:r>
            <a:r>
              <a:rPr lang="en-US" sz="1200" dirty="0" err="1"/>
              <a:t>Пользователь</a:t>
            </a:r>
            <a:r>
              <a:rPr lang="en-US" sz="1200" dirty="0"/>
              <a:t> и </a:t>
            </a:r>
            <a:r>
              <a:rPr lang="en-US" sz="1200" dirty="0" err="1"/>
              <a:t>Администратор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Отслеживание</a:t>
            </a:r>
            <a:r>
              <a:rPr lang="en-US" sz="1200" dirty="0"/>
              <a:t> </a:t>
            </a:r>
            <a:r>
              <a:rPr lang="en-US" sz="1200" dirty="0" err="1"/>
              <a:t>прогресса</a:t>
            </a:r>
            <a:r>
              <a:rPr lang="en-US" sz="1200" dirty="0"/>
              <a:t> </a:t>
            </a:r>
            <a:r>
              <a:rPr lang="en-US" sz="1200" dirty="0" err="1"/>
              <a:t>обучения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Избранное</a:t>
            </a:r>
            <a:r>
              <a:rPr lang="en-US" sz="1200" dirty="0"/>
              <a:t> и </a:t>
            </a:r>
            <a:r>
              <a:rPr lang="en-US" sz="1200" dirty="0" err="1"/>
              <a:t>статистика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Чат</a:t>
            </a:r>
            <a:r>
              <a:rPr lang="en-US" sz="1200" dirty="0"/>
              <a:t> </a:t>
            </a:r>
            <a:r>
              <a:rPr lang="en-US" sz="1200" dirty="0" err="1"/>
              <a:t>технической</a:t>
            </a:r>
            <a:r>
              <a:rPr lang="en-US" sz="1200" dirty="0"/>
              <a:t> </a:t>
            </a:r>
            <a:r>
              <a:rPr lang="en-US" sz="1200" dirty="0" err="1"/>
              <a:t>поддержки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Экспорт</a:t>
            </a:r>
            <a:r>
              <a:rPr lang="en-US" sz="1200" dirty="0"/>
              <a:t> </a:t>
            </a:r>
            <a:r>
              <a:rPr lang="en-US" sz="1200" dirty="0" err="1"/>
              <a:t>данных</a:t>
            </a:r>
            <a:r>
              <a:rPr lang="en-US" sz="1200" dirty="0"/>
              <a:t> в Excel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Тёмная</a:t>
            </a:r>
            <a:r>
              <a:rPr lang="en-US" sz="1200" dirty="0"/>
              <a:t> </a:t>
            </a:r>
            <a:r>
              <a:rPr lang="en-US" sz="1200" dirty="0" err="1"/>
              <a:t>тема</a:t>
            </a:r>
            <a:r>
              <a:rPr lang="en-US" sz="1200" dirty="0"/>
              <a:t> и </a:t>
            </a:r>
            <a:r>
              <a:rPr lang="en-US" sz="1200" dirty="0" err="1"/>
              <a:t>адаптивный</a:t>
            </a:r>
            <a:r>
              <a:rPr lang="en-US" sz="1200" dirty="0"/>
              <a:t> UI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Документация</a:t>
            </a:r>
            <a:r>
              <a:rPr lang="en-US" sz="1200" dirty="0"/>
              <a:t> (README)</a:t>
            </a:r>
          </a:p>
          <a:p>
            <a:pPr>
              <a:buFont typeface="Arial"/>
              <a:buChar char="•"/>
            </a:pPr>
            <a:endParaRPr lang="en-US" sz="1200"/>
          </a:p>
          <a:p>
            <a:pPr marL="0" indent="0">
              <a:buNone/>
            </a:pPr>
            <a:r>
              <a:rPr lang="en-US" sz="1200" b="1" dirty="0" err="1"/>
              <a:t>Планы</a:t>
            </a:r>
            <a:r>
              <a:rPr lang="en-US" sz="1200" b="1" dirty="0"/>
              <a:t> </a:t>
            </a:r>
            <a:r>
              <a:rPr lang="en-US" sz="1200" b="1" dirty="0" err="1"/>
              <a:t>развития</a:t>
            </a:r>
            <a:r>
              <a:rPr lang="en-US" sz="1200" b="1" dirty="0"/>
              <a:t> </a:t>
            </a:r>
            <a:endParaRPr lang="en-US" sz="1200" dirty="0"/>
          </a:p>
          <a:p>
            <a:pPr>
              <a:buNone/>
            </a:pPr>
            <a:r>
              <a:rPr lang="en-US" sz="1200" b="1" i="1" dirty="0"/>
              <a:t>  </a:t>
            </a:r>
            <a:r>
              <a:rPr lang="en-US" sz="1200" b="1" i="1" dirty="0" err="1"/>
              <a:t>Ближайшие</a:t>
            </a:r>
            <a:r>
              <a:rPr lang="en-US" sz="1200" b="1" i="1" dirty="0"/>
              <a:t> (v2.0):</a:t>
            </a:r>
          </a:p>
          <a:p>
            <a:pPr>
              <a:buFont typeface="Arial"/>
              <a:buChar char="•"/>
            </a:pPr>
            <a:r>
              <a:rPr lang="en-US" sz="1200" dirty="0"/>
              <a:t>Push-</a:t>
            </a:r>
            <a:r>
              <a:rPr lang="en-US" sz="1200" dirty="0" err="1"/>
              <a:t>уведомления</a:t>
            </a:r>
            <a:r>
              <a:rPr lang="en-US" sz="1200" dirty="0"/>
              <a:t> о </a:t>
            </a:r>
            <a:r>
              <a:rPr lang="en-US" sz="1200" dirty="0" err="1"/>
              <a:t>новых</a:t>
            </a:r>
            <a:r>
              <a:rPr lang="en-US" sz="1200" dirty="0"/>
              <a:t> </a:t>
            </a:r>
            <a:r>
              <a:rPr lang="en-US" sz="1200" dirty="0" err="1"/>
              <a:t>курсах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Встроенный</a:t>
            </a:r>
            <a:r>
              <a:rPr lang="en-US" sz="1200" dirty="0"/>
              <a:t> </a:t>
            </a:r>
            <a:r>
              <a:rPr lang="en-US" sz="1200" dirty="0" err="1"/>
              <a:t>редактор</a:t>
            </a:r>
            <a:r>
              <a:rPr lang="en-US" sz="1200" dirty="0"/>
              <a:t> </a:t>
            </a:r>
            <a:r>
              <a:rPr lang="en-US" sz="1200" dirty="0" err="1"/>
              <a:t>кода</a:t>
            </a:r>
            <a:r>
              <a:rPr lang="en-US" sz="1200" dirty="0"/>
              <a:t> с </a:t>
            </a:r>
            <a:r>
              <a:rPr lang="en-US" sz="1200" dirty="0" err="1"/>
              <a:t>подсветкой</a:t>
            </a:r>
            <a:endParaRPr lang="en-US" sz="1200" dirty="0"/>
          </a:p>
          <a:p>
            <a:pPr indent="0">
              <a:buNone/>
            </a:pPr>
            <a:r>
              <a:rPr lang="en-US" sz="1200" b="1" i="1" dirty="0" err="1"/>
              <a:t>Долгосрочные</a:t>
            </a:r>
            <a:r>
              <a:rPr lang="en-US" sz="1200" b="1" i="1" dirty="0"/>
              <a:t> (v3.0):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Синхронизация</a:t>
            </a:r>
            <a:r>
              <a:rPr lang="en-US" sz="1200" dirty="0"/>
              <a:t> с </a:t>
            </a:r>
            <a:r>
              <a:rPr lang="en-US" sz="1200" dirty="0" err="1"/>
              <a:t>облаком</a:t>
            </a:r>
            <a:r>
              <a:rPr lang="en-US" sz="1200" dirty="0"/>
              <a:t> (Firebase)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Авторизация</a:t>
            </a:r>
            <a:r>
              <a:rPr lang="en-US" sz="1200" dirty="0"/>
              <a:t> </a:t>
            </a:r>
            <a:r>
              <a:rPr lang="en-US" sz="1200" dirty="0" err="1"/>
              <a:t>через</a:t>
            </a:r>
            <a:r>
              <a:rPr lang="en-US" sz="1200" dirty="0"/>
              <a:t> Google/VK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Публикация</a:t>
            </a:r>
            <a:r>
              <a:rPr lang="en-US" sz="1200" dirty="0"/>
              <a:t> в </a:t>
            </a:r>
            <a:r>
              <a:rPr lang="en-US" sz="1200" dirty="0" err="1"/>
              <a:t>RuStore</a:t>
            </a:r>
            <a:r>
              <a:rPr lang="en-US" sz="1200" dirty="0"/>
              <a:t> / Google Play</a:t>
            </a:r>
          </a:p>
          <a:p>
            <a:pPr>
              <a:buFont typeface="Arial"/>
              <a:buChar char="•"/>
            </a:pPr>
            <a:r>
              <a:rPr lang="en-US" sz="1200" dirty="0" err="1"/>
              <a:t>Геймификация</a:t>
            </a:r>
            <a:r>
              <a:rPr lang="en-US" sz="1200" dirty="0"/>
              <a:t>: </a:t>
            </a:r>
            <a:r>
              <a:rPr lang="en-US" sz="1200" dirty="0" err="1"/>
              <a:t>достижения</a:t>
            </a:r>
            <a:r>
              <a:rPr lang="en-US" sz="1200" dirty="0"/>
              <a:t>, </a:t>
            </a:r>
            <a:r>
              <a:rPr lang="en-US" sz="1200" dirty="0" err="1"/>
              <a:t>рейтинг</a:t>
            </a: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 err="1"/>
              <a:t>Видеоуроки</a:t>
            </a:r>
            <a:r>
              <a:rPr lang="en-US" sz="1200" dirty="0"/>
              <a:t> и </a:t>
            </a:r>
            <a:r>
              <a:rPr lang="en-US" sz="1200" dirty="0" err="1"/>
              <a:t>интерактивные</a:t>
            </a:r>
            <a:r>
              <a:rPr lang="en-US" sz="1200" dirty="0"/>
              <a:t> </a:t>
            </a:r>
            <a:r>
              <a:rPr lang="en-US" sz="1200" dirty="0" err="1"/>
              <a:t>задания</a:t>
            </a:r>
            <a:endParaRPr lang="en-US" sz="1200" dirty="0"/>
          </a:p>
          <a:p>
            <a:pPr marL="0" indent="0">
              <a:buNone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6095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PyStart - Мобильное приложение для изучения Python</vt:lpstr>
      <vt:lpstr>Проблематика</vt:lpstr>
      <vt:lpstr>Демо - функционал для пользователя</vt:lpstr>
      <vt:lpstr>Демо-Административная панель </vt:lpstr>
      <vt:lpstr>Архитектура приложения</vt:lpstr>
      <vt:lpstr>База данных </vt:lpstr>
      <vt:lpstr>Технологический стек</vt:lpstr>
      <vt:lpstr>Выводы и планы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26</cp:revision>
  <dcterms:created xsi:type="dcterms:W3CDTF">2025-12-13T23:18:28Z</dcterms:created>
  <dcterms:modified xsi:type="dcterms:W3CDTF">2025-12-14T14:02:31Z</dcterms:modified>
</cp:coreProperties>
</file>